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5" r:id="rId8"/>
    <p:sldId id="2146847057" r:id="rId9"/>
    <p:sldId id="2146847058" r:id="rId10"/>
    <p:sldId id="2146847056" r:id="rId11"/>
    <p:sldId id="267" r:id="rId12"/>
    <p:sldId id="268" r:id="rId13"/>
    <p:sldId id="2146847055" r:id="rId14"/>
    <p:sldId id="269"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C3D9CC-52A4-7BB9-5926-A17EAD909109}" v="32" dt="2024-12-19T12:09:51.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48" d="100"/>
          <a:sy n="48" d="100"/>
        </p:scale>
        <p:origin x="34" y="79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5</a:t>
            </a:fld>
            <a:endParaRPr lang="en-IN"/>
          </a:p>
        </p:txBody>
      </p:sp>
    </p:spTree>
    <p:extLst>
      <p:ext uri="{BB962C8B-B14F-4D97-AF65-F5344CB8AC3E}">
        <p14:creationId xmlns:p14="http://schemas.microsoft.com/office/powerpoint/2010/main" val="1290700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t>11/22/2025</a:t>
            </a:fld>
            <a:endParaRPr lang="en-US"/>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t>11/22/2025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t>11/22/2025</a:t>
            </a:fld>
            <a:endParaRPr lang="en-US"/>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11/22/2025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11/22/2025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11/22/2025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11/22/2025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11/22/2025</a:t>
            </a:fld>
            <a:endParaRPr lang="en-US"/>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11/22/2025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11/22/2025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t>11/22/2025</a:t>
            </a:fld>
            <a:endParaRPr lang="en-US"/>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11/22/2025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xmlns=""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production.creao.ai/share?app=1OjyoLT8&amp;utm_source=share&amp;utm_medium=link" TargetMode="External"/><Relationship Id="rId2" Type="http://schemas.openxmlformats.org/officeDocument/2006/relationships/hyperlink" Target="https://github.com/Afrah-Riyas-1154/AI-RESUME-BUILDER.gi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tx1"/>
                </a:solidFill>
                <a:latin typeface="Arial" panose="020B0604020202020204" pitchFamily="34" charset="0"/>
                <a:cs typeface="Arial" panose="020B0604020202020204" pitchFamily="34" charset="0"/>
              </a:rPr>
              <a:t>AI RESUME BUILDER</a:t>
            </a:r>
            <a:endParaRPr lang="en-US" b="1" dirty="0">
              <a:solidFill>
                <a:schemeClr val="tx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1036320" y="4174884"/>
            <a:ext cx="10271759" cy="707886"/>
          </a:xfrm>
          <a:prstGeom prst="rect">
            <a:avLst/>
          </a:prstGeom>
          <a:noFill/>
        </p:spPr>
        <p:txBody>
          <a:bodyPr wrap="square" lIns="91440" tIns="45720" rIns="91440" bIns="45720" rtlCol="0" anchor="t">
            <a:spAutoFit/>
          </a:bodyPr>
          <a:lstStyle/>
          <a:p>
            <a:pPr algn="ctr"/>
            <a:r>
              <a:rPr lang="en-US" sz="2000" b="1" dirty="0">
                <a:solidFill>
                  <a:schemeClr val="bg1"/>
                </a:solidFill>
                <a:latin typeface="Arial" pitchFamily="34" charset="0"/>
                <a:cs typeface="Arial" pitchFamily="34" charset="0"/>
              </a:rPr>
              <a:t>Presented By:</a:t>
            </a:r>
          </a:p>
          <a:p>
            <a:pPr algn="ctr"/>
            <a:r>
              <a:rPr lang="en-US" sz="2000" b="1" dirty="0" smtClean="0">
                <a:solidFill>
                  <a:schemeClr val="bg1"/>
                </a:solidFill>
                <a:latin typeface="Arial"/>
                <a:cs typeface="Arial"/>
              </a:rPr>
              <a:t>Afrah Riyas </a:t>
            </a:r>
            <a:r>
              <a:rPr lang="en-US" sz="2000" b="1" dirty="0" smtClean="0">
                <a:solidFill>
                  <a:schemeClr val="bg1"/>
                </a:solidFill>
                <a:latin typeface="Arial"/>
                <a:cs typeface="Arial"/>
              </a:rPr>
              <a:t>– </a:t>
            </a:r>
            <a:r>
              <a:rPr lang="en-US" sz="2000" b="1" dirty="0" err="1" smtClean="0">
                <a:solidFill>
                  <a:schemeClr val="bg1"/>
                </a:solidFill>
                <a:latin typeface="Arial"/>
                <a:cs typeface="Arial"/>
              </a:rPr>
              <a:t>Arunachala</a:t>
            </a:r>
            <a:r>
              <a:rPr lang="en-US" sz="2000" b="1" dirty="0" smtClean="0">
                <a:solidFill>
                  <a:schemeClr val="bg1"/>
                </a:solidFill>
                <a:latin typeface="Arial"/>
                <a:cs typeface="Arial"/>
              </a:rPr>
              <a:t> College of Engineering For Women – AI&amp;DS</a:t>
            </a:r>
            <a:endParaRPr lang="en-US" sz="2000" b="1" dirty="0">
              <a:solidFill>
                <a:schemeClr val="bg1"/>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FFEB4C-F209-4AE7-AA2B-B3C26CE2C51D}"/>
              </a:ext>
            </a:extLst>
          </p:cNvPr>
          <p:cNvSpPr>
            <a:spLocks noGrp="1"/>
          </p:cNvSpPr>
          <p:nvPr>
            <p:ph type="title"/>
          </p:nvPr>
        </p:nvSpPr>
        <p:spPr>
          <a:xfrm>
            <a:off x="849573" y="558468"/>
            <a:ext cx="10515600" cy="132556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xmlns="" id="{B2678641-EEA3-4EC4-BF39-4075B0C120E8}"/>
              </a:ext>
            </a:extLst>
          </p:cNvPr>
          <p:cNvSpPr>
            <a:spLocks noGrp="1"/>
          </p:cNvSpPr>
          <p:nvPr>
            <p:ph idx="1"/>
          </p:nvPr>
        </p:nvSpPr>
        <p:spPr>
          <a:xfrm>
            <a:off x="838200" y="1618938"/>
            <a:ext cx="11019020" cy="400462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endParaRPr lang="en-US" sz="2000" b="1" dirty="0" smtClean="0">
              <a:latin typeface="Arial"/>
              <a:ea typeface="+mn-lt"/>
              <a:cs typeface="Arial"/>
            </a:endParaRPr>
          </a:p>
          <a:p>
            <a:pPr marL="305435" indent="-305435"/>
            <a:r>
              <a:rPr lang="en-US" sz="2000" b="1" dirty="0" smtClean="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a:t>
            </a:r>
            <a:r>
              <a:rPr lang="en-US" sz="2000" dirty="0">
                <a:latin typeface="Arial"/>
                <a:ea typeface="+mn-lt"/>
                <a:cs typeface="+mn-lt"/>
              </a:rPr>
              <a:t>(</a:t>
            </a:r>
            <a:r>
              <a:rPr lang="en-US" sz="2000" dirty="0" smtClean="0">
                <a:latin typeface="Arial"/>
                <a:ea typeface="+mn-lt"/>
                <a:cs typeface="+mn-lt"/>
              </a:rPr>
              <a:t>Step-by-</a:t>
            </a:r>
            <a:r>
              <a:rPr lang="en-US" sz="2000" dirty="0" smtClean="0">
                <a:latin typeface="Arial"/>
                <a:ea typeface="+mn-lt"/>
                <a:cs typeface="+mn-lt"/>
              </a:rPr>
              <a:t>S</a:t>
            </a:r>
            <a:r>
              <a:rPr lang="en-US" sz="2000" dirty="0" smtClean="0">
                <a:latin typeface="Arial"/>
                <a:ea typeface="+mn-lt"/>
                <a:cs typeface="+mn-lt"/>
              </a:rPr>
              <a:t>tep Procedure</a:t>
            </a:r>
            <a:r>
              <a:rPr lang="en-US" sz="2000" dirty="0">
                <a:latin typeface="Arial"/>
                <a:ea typeface="+mn-lt"/>
                <a:cs typeface="+mn-lt"/>
              </a:rPr>
              <a:t>) </a:t>
            </a:r>
            <a:endParaRPr lang="en-US" dirty="0">
              <a:latin typeface="Arial"/>
              <a:cs typeface="Calibri"/>
            </a:endParaRPr>
          </a:p>
          <a:p>
            <a:pPr marL="305435" indent="-305435"/>
            <a:r>
              <a:rPr lang="en-US" sz="2000" b="1" dirty="0">
                <a:latin typeface="Arial"/>
                <a:ea typeface="+mn-lt"/>
                <a:cs typeface="Arial"/>
              </a:rPr>
              <a:t>Result</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a:t>
            </a:r>
            <a:r>
              <a:rPr lang="en-US" sz="2000" b="1" dirty="0" smtClean="0">
                <a:latin typeface="Arial"/>
                <a:ea typeface="+mn-lt"/>
                <a:cs typeface="Arial"/>
              </a:rPr>
              <a:t>Scope (</a:t>
            </a:r>
            <a:r>
              <a:rPr lang="en-US" sz="2000" b="1" dirty="0">
                <a:latin typeface="Arial"/>
                <a:ea typeface="+mn-lt"/>
                <a:cs typeface="Arial"/>
              </a:rPr>
              <a:t>Optional)</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xmlns="" id="{A7D5EFD5-67FD-0471-2D5B-DB48161ADE03}"/>
              </a:ext>
            </a:extLst>
          </p:cNvPr>
          <p:cNvSpPr>
            <a:spLocks noGrp="1"/>
          </p:cNvSpPr>
          <p:nvPr>
            <p:ph idx="1"/>
          </p:nvPr>
        </p:nvSpPr>
        <p:spPr/>
        <p:txBody>
          <a:bodyPr/>
          <a:lstStyle/>
          <a:p>
            <a:r>
              <a:rPr lang="en-US" dirty="0"/>
              <a:t>Creating a professional resume is challenging for students and job seekers who lack experience in content writing, formatting, and identifying relevant skills. Many rely on manual templates which require time, effort, and understanding of resume standards.</a:t>
            </a:r>
          </a:p>
          <a:p>
            <a:r>
              <a:rPr lang="en-US" b="1" dirty="0"/>
              <a:t>Problem:</a:t>
            </a:r>
            <a:r>
              <a:rPr lang="en-US" dirty="0"/>
              <a:t/>
            </a:r>
            <a:br>
              <a:rPr lang="en-US" dirty="0"/>
            </a:br>
            <a:r>
              <a:rPr lang="en-US" dirty="0"/>
              <a:t>There is a need for an AI-powered system that can automatically generate well-structured, ATS-friendly resumes, improve content quality, and assist users with skill recommendations based on the job role they want.</a:t>
            </a:r>
          </a:p>
          <a:p>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graphicFrame>
        <p:nvGraphicFramePr>
          <p:cNvPr id="7" name="Content Placeholder 6">
            <a:extLst>
              <a:ext uri="{FF2B5EF4-FFF2-40B4-BE49-F238E27FC236}">
                <a16:creationId xmlns:a16="http://schemas.microsoft.com/office/drawing/2014/main" xmlns="" id="{E926667E-1934-225A-D838-F85DD7A53C90}"/>
              </a:ext>
            </a:extLst>
          </p:cNvPr>
          <p:cNvGraphicFramePr>
            <a:graphicFrameLocks noGrp="1"/>
          </p:cNvGraphicFramePr>
          <p:nvPr>
            <p:ph idx="1"/>
            <p:extLst>
              <p:ext uri="{D42A27DB-BD31-4B8C-83A1-F6EECF244321}">
                <p14:modId xmlns:p14="http://schemas.microsoft.com/office/powerpoint/2010/main" val="891130817"/>
              </p:ext>
            </p:extLst>
          </p:nvPr>
        </p:nvGraphicFramePr>
        <p:xfrm>
          <a:off x="581025" y="1371599"/>
          <a:ext cx="11029950" cy="4800602"/>
        </p:xfrm>
        <a:graphic>
          <a:graphicData uri="http://schemas.openxmlformats.org/drawingml/2006/table">
            <a:tbl>
              <a:tblPr/>
              <a:tblGrid>
                <a:gridCol w="5514975">
                  <a:extLst>
                    <a:ext uri="{9D8B030D-6E8A-4147-A177-3AD203B41FA5}">
                      <a16:colId xmlns:a16="http://schemas.microsoft.com/office/drawing/2014/main" xmlns="" val="3651885456"/>
                    </a:ext>
                  </a:extLst>
                </a:gridCol>
                <a:gridCol w="5514975">
                  <a:extLst>
                    <a:ext uri="{9D8B030D-6E8A-4147-A177-3AD203B41FA5}">
                      <a16:colId xmlns:a16="http://schemas.microsoft.com/office/drawing/2014/main" xmlns="" val="3162863862"/>
                    </a:ext>
                  </a:extLst>
                </a:gridCol>
              </a:tblGrid>
              <a:tr h="1548581">
                <a:tc>
                  <a:txBody>
                    <a:bodyPr/>
                    <a:lstStyle/>
                    <a:p>
                      <a:pPr algn="just">
                        <a:buNone/>
                      </a:pPr>
                      <a:r>
                        <a:rPr lang="en-IN" b="1" dirty="0" smtClean="0">
                          <a:latin typeface="Arial" panose="020B0604020202020204" pitchFamily="34" charset="0"/>
                          <a:cs typeface="Arial" panose="020B0604020202020204" pitchFamily="34" charset="0"/>
                        </a:rPr>
                        <a:t>Frontend</a:t>
                      </a:r>
                      <a:endParaRPr lang="en-IN" dirty="0">
                        <a:latin typeface="Arial" panose="020B0604020202020204" pitchFamily="34" charset="0"/>
                        <a:cs typeface="Arial" panose="020B0604020202020204" pitchFamily="34" charset="0"/>
                      </a:endParaRPr>
                    </a:p>
                  </a:txBody>
                  <a:tcPr anchor="ctr">
                    <a:lnL>
                      <a:noFill/>
                    </a:lnL>
                    <a:lnR>
                      <a:noFill/>
                    </a:lnR>
                    <a:lnT>
                      <a:noFill/>
                    </a:lnT>
                    <a:lnB>
                      <a:noFill/>
                    </a:lnB>
                    <a:solidFill>
                      <a:schemeClr val="accent1">
                        <a:lumMod val="40000"/>
                        <a:lumOff val="60000"/>
                      </a:schemeClr>
                    </a:solidFill>
                  </a:tcPr>
                </a:tc>
                <a:tc>
                  <a:txBody>
                    <a:bodyPr/>
                    <a:lstStyle/>
                    <a:p>
                      <a:pPr algn="just">
                        <a:buNone/>
                      </a:pPr>
                      <a:r>
                        <a:rPr lang="en-US" dirty="0" err="1" smtClean="0"/>
                        <a:t>Streamlit</a:t>
                      </a:r>
                      <a:r>
                        <a:rPr lang="en-US" dirty="0" smtClean="0"/>
                        <a:t>-based interface for user input (personal details, skills, projects), template preview, and resume download</a:t>
                      </a:r>
                      <a:endParaRPr lang="en-US" dirty="0">
                        <a:latin typeface="Arial" panose="020B0604020202020204" pitchFamily="34" charset="0"/>
                        <a:cs typeface="Arial" panose="020B0604020202020204" pitchFamily="34" charset="0"/>
                      </a:endParaRP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xmlns="" val="3789503578"/>
                  </a:ext>
                </a:extLst>
              </a:tr>
              <a:tr h="1084007">
                <a:tc>
                  <a:txBody>
                    <a:bodyPr/>
                    <a:lstStyle/>
                    <a:p>
                      <a:pPr algn="just">
                        <a:buNone/>
                      </a:pPr>
                      <a:r>
                        <a:rPr lang="en-IN" b="1" dirty="0" smtClean="0">
                          <a:latin typeface="Arial" panose="020B0604020202020204" pitchFamily="34" charset="0"/>
                          <a:cs typeface="Arial" panose="020B0604020202020204" pitchFamily="34" charset="0"/>
                        </a:rPr>
                        <a:t>Backend</a:t>
                      </a:r>
                      <a:endParaRPr lang="en-IN" dirty="0">
                        <a:latin typeface="Arial" panose="020B0604020202020204" pitchFamily="34" charset="0"/>
                        <a:cs typeface="Arial" panose="020B0604020202020204" pitchFamily="34" charset="0"/>
                      </a:endParaRPr>
                    </a:p>
                  </a:txBody>
                  <a:tcPr anchor="ctr">
                    <a:lnL>
                      <a:noFill/>
                    </a:lnL>
                    <a:lnR>
                      <a:noFill/>
                    </a:lnR>
                    <a:lnT>
                      <a:noFill/>
                    </a:lnT>
                    <a:lnB>
                      <a:noFill/>
                    </a:lnB>
                    <a:solidFill>
                      <a:schemeClr val="accent1">
                        <a:lumMod val="40000"/>
                        <a:lumOff val="60000"/>
                      </a:schemeClr>
                    </a:solidFill>
                  </a:tcPr>
                </a:tc>
                <a:tc>
                  <a:txBody>
                    <a:bodyPr/>
                    <a:lstStyle/>
                    <a:p>
                      <a:pPr algn="just">
                        <a:buNone/>
                      </a:pPr>
                      <a:r>
                        <a:rPr lang="en-US" dirty="0" smtClean="0"/>
                        <a:t>Python</a:t>
                      </a:r>
                      <a:r>
                        <a:rPr lang="en-US" baseline="0" dirty="0" smtClean="0"/>
                        <a:t> </a:t>
                      </a:r>
                      <a:r>
                        <a:rPr lang="en-US" dirty="0" smtClean="0"/>
                        <a:t>backend to process user data, call AI APIs, generate content, perform skill-matching, and assemble final resume.</a:t>
                      </a:r>
                      <a:endParaRPr lang="en-US" dirty="0">
                        <a:latin typeface="Arial" panose="020B0604020202020204" pitchFamily="34" charset="0"/>
                        <a:cs typeface="Arial" panose="020B0604020202020204" pitchFamily="34" charset="0"/>
                      </a:endParaRP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xmlns="" val="3835916795"/>
                  </a:ext>
                </a:extLst>
              </a:tr>
              <a:tr h="1084007">
                <a:tc>
                  <a:txBody>
                    <a:bodyPr/>
                    <a:lstStyle/>
                    <a:p>
                      <a:pPr algn="just">
                        <a:buNone/>
                      </a:pPr>
                      <a:r>
                        <a:rPr lang="en-IN" b="1" dirty="0" smtClean="0">
                          <a:latin typeface="Arial" panose="020B0604020202020204" pitchFamily="34" charset="0"/>
                          <a:cs typeface="Arial" panose="020B0604020202020204" pitchFamily="34" charset="0"/>
                        </a:rPr>
                        <a:t>Model Engine</a:t>
                      </a:r>
                      <a:endParaRPr lang="en-IN" dirty="0">
                        <a:latin typeface="Arial" panose="020B0604020202020204" pitchFamily="34" charset="0"/>
                        <a:cs typeface="Arial" panose="020B0604020202020204" pitchFamily="34" charset="0"/>
                      </a:endParaRPr>
                    </a:p>
                  </a:txBody>
                  <a:tcPr anchor="ctr">
                    <a:lnL>
                      <a:noFill/>
                    </a:lnL>
                    <a:lnR>
                      <a:noFill/>
                    </a:lnR>
                    <a:lnT>
                      <a:noFill/>
                    </a:lnT>
                    <a:lnB>
                      <a:noFill/>
                    </a:lnB>
                    <a:solidFill>
                      <a:schemeClr val="accent1">
                        <a:lumMod val="40000"/>
                        <a:lumOff val="60000"/>
                      </a:schemeClr>
                    </a:solidFill>
                  </a:tcPr>
                </a:tc>
                <a:tc>
                  <a:txBody>
                    <a:bodyPr/>
                    <a:lstStyle/>
                    <a:p>
                      <a:pPr algn="just">
                        <a:buNone/>
                      </a:pPr>
                      <a:r>
                        <a:rPr lang="en-US" dirty="0" err="1" smtClean="0"/>
                        <a:t>OpenAI</a:t>
                      </a:r>
                      <a:r>
                        <a:rPr lang="en-US" dirty="0" smtClean="0"/>
                        <a:t> / Google AI Studio model for text generation (resume bullets, summary, skill suggestions)</a:t>
                      </a:r>
                      <a:endParaRPr lang="en-IN" dirty="0">
                        <a:latin typeface="Arial" panose="020B0604020202020204" pitchFamily="34" charset="0"/>
                        <a:cs typeface="Arial" panose="020B0604020202020204" pitchFamily="34" charset="0"/>
                      </a:endParaRP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xmlns="" val="223182781"/>
                  </a:ext>
                </a:extLst>
              </a:tr>
              <a:tr h="1084007">
                <a:tc>
                  <a:txBody>
                    <a:bodyPr/>
                    <a:lstStyle/>
                    <a:p>
                      <a:pPr algn="just">
                        <a:buNone/>
                      </a:pPr>
                      <a:r>
                        <a:rPr lang="en-IN" b="1" dirty="0" smtClean="0">
                          <a:latin typeface="Arial" panose="020B0604020202020204" pitchFamily="34" charset="0"/>
                          <a:cs typeface="Arial" panose="020B0604020202020204" pitchFamily="34" charset="0"/>
                        </a:rPr>
                        <a:t>Data Handling</a:t>
                      </a:r>
                      <a:endParaRPr lang="en-IN" dirty="0">
                        <a:latin typeface="Arial" panose="020B0604020202020204" pitchFamily="34" charset="0"/>
                        <a:cs typeface="Arial" panose="020B0604020202020204" pitchFamily="34" charset="0"/>
                      </a:endParaRPr>
                    </a:p>
                  </a:txBody>
                  <a:tcPr anchor="ctr">
                    <a:lnL>
                      <a:noFill/>
                    </a:lnL>
                    <a:lnR>
                      <a:noFill/>
                    </a:lnR>
                    <a:lnT>
                      <a:noFill/>
                    </a:lnT>
                    <a:lnB>
                      <a:noFill/>
                    </a:lnB>
                    <a:solidFill>
                      <a:schemeClr val="accent1">
                        <a:lumMod val="40000"/>
                        <a:lumOff val="60000"/>
                      </a:schemeClr>
                    </a:solidFill>
                  </a:tcPr>
                </a:tc>
                <a:tc>
                  <a:txBody>
                    <a:bodyPr/>
                    <a:lstStyle/>
                    <a:p>
                      <a:pPr algn="just">
                        <a:buNone/>
                      </a:pPr>
                      <a:r>
                        <a:rPr lang="en-US" dirty="0" smtClean="0"/>
                        <a:t>Handles user inputs temporarily during session; allows optional job description upload; supports exporting formatted resume (PDF/DOCX)</a:t>
                      </a:r>
                      <a:endParaRPr lang="en-US" dirty="0">
                        <a:latin typeface="Arial" panose="020B0604020202020204" pitchFamily="34" charset="0"/>
                        <a:cs typeface="Arial" panose="020B0604020202020204" pitchFamily="34" charset="0"/>
                      </a:endParaRP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xmlns="" val="4257733088"/>
                  </a:ext>
                </a:extLst>
              </a:tr>
            </a:tbl>
          </a:graphicData>
        </a:graphic>
      </p:graphicFrame>
      <p:graphicFrame>
        <p:nvGraphicFramePr>
          <p:cNvPr id="2" name="Table 1"/>
          <p:cNvGraphicFramePr>
            <a:graphicFrameLocks noGrp="1"/>
          </p:cNvGraphicFramePr>
          <p:nvPr/>
        </p:nvGraphicFramePr>
        <p:xfrm>
          <a:off x="7833360" y="7833360"/>
          <a:ext cx="208280" cy="365760"/>
        </p:xfrm>
        <a:graphic>
          <a:graphicData uri="http://schemas.openxmlformats.org/drawingml/2006/table">
            <a:tbl>
              <a:tblPr/>
              <a:tblGrid>
                <a:gridCol w="208280"/>
              </a:tblGrid>
              <a:tr h="0">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a16="http://schemas.microsoft.com/office/drawing/2014/main" xmlns="" id="{2A13D4AF-BC64-937B-E983-E2F50E4F343E}"/>
              </a:ext>
            </a:extLst>
          </p:cNvPr>
          <p:cNvSpPr>
            <a:spLocks noGrp="1" noChangeArrowheads="1"/>
          </p:cNvSpPr>
          <p:nvPr>
            <p:ph idx="1"/>
          </p:nvPr>
        </p:nvSpPr>
        <p:spPr bwMode="auto">
          <a:xfrm>
            <a:off x="3188925" y="1232452"/>
            <a:ext cx="5223555" cy="537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00000"/>
              </a:lnSpc>
              <a:buNone/>
            </a:pPr>
            <a:r>
              <a:rPr lang="en-US" sz="1100" b="1" dirty="0">
                <a:latin typeface="Arial" panose="020B0604020202020204" pitchFamily="34" charset="0"/>
                <a:cs typeface="Arial" panose="020B0604020202020204" pitchFamily="34" charset="0"/>
              </a:rPr>
              <a:t>1. </a:t>
            </a:r>
            <a:r>
              <a:rPr lang="en-US" sz="1100" b="1" dirty="0" smtClean="0">
                <a:latin typeface="Arial" panose="020B0604020202020204" pitchFamily="34" charset="0"/>
                <a:cs typeface="Arial" panose="020B0604020202020204" pitchFamily="34" charset="0"/>
              </a:rPr>
              <a:t>Data Input</a:t>
            </a:r>
            <a:endParaRPr lang="en-US" sz="1100" b="1" dirty="0">
              <a:latin typeface="Arial" panose="020B0604020202020204" pitchFamily="34" charset="0"/>
              <a:cs typeface="Arial" panose="020B0604020202020204" pitchFamily="34" charset="0"/>
            </a:endParaRPr>
          </a:p>
          <a:p>
            <a:pPr>
              <a:lnSpc>
                <a:spcPct val="100000"/>
              </a:lnSpc>
            </a:pPr>
            <a:r>
              <a:rPr lang="en-US" sz="1100" dirty="0">
                <a:latin typeface="Arial" panose="020B0604020202020204" pitchFamily="34" charset="0"/>
                <a:cs typeface="Arial" panose="020B0604020202020204" pitchFamily="34" charset="0"/>
              </a:rPr>
              <a:t>User enters basic details: Name, Education, Skills, Projects, Experience</a:t>
            </a:r>
            <a:r>
              <a:rPr lang="en-US" sz="1100" dirty="0" smtClean="0">
                <a:latin typeface="Arial" panose="020B0604020202020204" pitchFamily="34" charset="0"/>
                <a:cs typeface="Arial" panose="020B0604020202020204" pitchFamily="34" charset="0"/>
              </a:rPr>
              <a:t>.</a:t>
            </a:r>
          </a:p>
          <a:p>
            <a:pPr>
              <a:lnSpc>
                <a:spcPct val="100000"/>
              </a:lnSpc>
            </a:pPr>
            <a:r>
              <a:rPr lang="en-US" sz="1100" dirty="0" smtClean="0">
                <a:latin typeface="Arial" panose="020B0604020202020204" pitchFamily="34" charset="0"/>
                <a:cs typeface="Arial" panose="020B0604020202020204" pitchFamily="34" charset="0"/>
              </a:rPr>
              <a:t>Optional</a:t>
            </a:r>
            <a:r>
              <a:rPr lang="en-US" sz="1100" dirty="0">
                <a:latin typeface="Arial" panose="020B0604020202020204" pitchFamily="34" charset="0"/>
                <a:cs typeface="Arial" panose="020B0604020202020204" pitchFamily="34" charset="0"/>
              </a:rPr>
              <a:t>: User uploads a Job Description for AI matching</a:t>
            </a:r>
            <a:r>
              <a:rPr lang="en-US" sz="1100" dirty="0" smtClean="0">
                <a:latin typeface="Arial" panose="020B0604020202020204" pitchFamily="34" charset="0"/>
                <a:cs typeface="Arial" panose="020B0604020202020204" pitchFamily="34" charset="0"/>
              </a:rPr>
              <a:t>.</a:t>
            </a:r>
          </a:p>
          <a:p>
            <a:pPr marL="0" indent="0">
              <a:lnSpc>
                <a:spcPct val="100000"/>
              </a:lnSpc>
              <a:buNone/>
            </a:pPr>
            <a:r>
              <a:rPr lang="en-US" sz="1100" b="1" dirty="0" smtClean="0">
                <a:latin typeface="Arial" panose="020B0604020202020204" pitchFamily="34" charset="0"/>
                <a:cs typeface="Arial" panose="020B0604020202020204" pitchFamily="34" charset="0"/>
              </a:rPr>
              <a:t>2</a:t>
            </a:r>
            <a:r>
              <a:rPr lang="en-US" sz="1100" b="1" dirty="0">
                <a:latin typeface="Arial" panose="020B0604020202020204" pitchFamily="34" charset="0"/>
                <a:cs typeface="Arial" panose="020B0604020202020204" pitchFamily="34" charset="0"/>
              </a:rPr>
              <a:t>. </a:t>
            </a:r>
            <a:r>
              <a:rPr lang="en-US" sz="1100" b="1" dirty="0" smtClean="0">
                <a:latin typeface="Arial" panose="020B0604020202020204" pitchFamily="34" charset="0"/>
                <a:cs typeface="Arial" panose="020B0604020202020204" pitchFamily="34" charset="0"/>
              </a:rPr>
              <a:t>Resume Content Generation</a:t>
            </a:r>
            <a:endParaRPr lang="en-US" sz="1100" b="1" dirty="0">
              <a:latin typeface="Arial" panose="020B0604020202020204" pitchFamily="34" charset="0"/>
              <a:cs typeface="Arial" panose="020B0604020202020204" pitchFamily="34" charset="0"/>
            </a:endParaRPr>
          </a:p>
          <a:p>
            <a:pPr>
              <a:lnSpc>
                <a:spcPct val="100000"/>
              </a:lnSpc>
            </a:pPr>
            <a:r>
              <a:rPr lang="en-US" sz="1100" dirty="0">
                <a:latin typeface="Arial" panose="020B0604020202020204" pitchFamily="34" charset="0"/>
                <a:cs typeface="Arial" panose="020B0604020202020204" pitchFamily="34" charset="0"/>
              </a:rPr>
              <a:t>AI model analyzes inputs</a:t>
            </a:r>
            <a:r>
              <a:rPr lang="en-US" sz="1100" dirty="0" smtClean="0">
                <a:latin typeface="Arial" panose="020B0604020202020204" pitchFamily="34" charset="0"/>
                <a:cs typeface="Arial" panose="020B0604020202020204" pitchFamily="34" charset="0"/>
              </a:rPr>
              <a:t>.</a:t>
            </a:r>
          </a:p>
          <a:p>
            <a:pPr>
              <a:lnSpc>
                <a:spcPct val="100000"/>
              </a:lnSpc>
            </a:pPr>
            <a:r>
              <a:rPr lang="en-US" sz="1100" dirty="0" smtClean="0">
                <a:latin typeface="Arial" panose="020B0604020202020204" pitchFamily="34" charset="0"/>
                <a:cs typeface="Arial" panose="020B0604020202020204" pitchFamily="34" charset="0"/>
              </a:rPr>
              <a:t>Generates </a:t>
            </a:r>
            <a:r>
              <a:rPr lang="en-US" sz="1100" dirty="0">
                <a:latin typeface="Arial" panose="020B0604020202020204" pitchFamily="34" charset="0"/>
                <a:cs typeface="Arial" panose="020B0604020202020204" pitchFamily="34" charset="0"/>
              </a:rPr>
              <a:t>improved bullet points for Experience, Projects, and Skills</a:t>
            </a:r>
            <a:r>
              <a:rPr lang="en-US" sz="1100" dirty="0" smtClean="0">
                <a:latin typeface="Arial" panose="020B0604020202020204" pitchFamily="34" charset="0"/>
                <a:cs typeface="Arial" panose="020B0604020202020204" pitchFamily="34" charset="0"/>
              </a:rPr>
              <a:t>.</a:t>
            </a:r>
          </a:p>
          <a:p>
            <a:pPr>
              <a:lnSpc>
                <a:spcPct val="100000"/>
              </a:lnSpc>
            </a:pPr>
            <a:r>
              <a:rPr lang="en-US" sz="1100" dirty="0" smtClean="0">
                <a:latin typeface="Arial" panose="020B0604020202020204" pitchFamily="34" charset="0"/>
                <a:cs typeface="Arial" panose="020B0604020202020204" pitchFamily="34" charset="0"/>
              </a:rPr>
              <a:t>Ensures </a:t>
            </a:r>
            <a:r>
              <a:rPr lang="en-US" sz="1100" dirty="0">
                <a:latin typeface="Arial" panose="020B0604020202020204" pitchFamily="34" charset="0"/>
                <a:cs typeface="Arial" panose="020B0604020202020204" pitchFamily="34" charset="0"/>
              </a:rPr>
              <a:t>ATS-friendly keyword optimization</a:t>
            </a:r>
            <a:r>
              <a:rPr lang="en-US" sz="1100" dirty="0" smtClean="0">
                <a:latin typeface="Arial" panose="020B0604020202020204" pitchFamily="34" charset="0"/>
                <a:cs typeface="Arial" panose="020B0604020202020204" pitchFamily="34" charset="0"/>
              </a:rPr>
              <a:t>.</a:t>
            </a:r>
          </a:p>
          <a:p>
            <a:pPr marL="0" indent="0">
              <a:lnSpc>
                <a:spcPct val="100000"/>
              </a:lnSpc>
              <a:buNone/>
            </a:pPr>
            <a:r>
              <a:rPr lang="en-US" sz="1100" b="1" dirty="0" smtClean="0">
                <a:latin typeface="Arial" panose="020B0604020202020204" pitchFamily="34" charset="0"/>
                <a:cs typeface="Arial" panose="020B0604020202020204" pitchFamily="34" charset="0"/>
              </a:rPr>
              <a:t>3</a:t>
            </a:r>
            <a:r>
              <a:rPr lang="en-US" sz="1100" b="1" dirty="0">
                <a:latin typeface="Arial" panose="020B0604020202020204" pitchFamily="34" charset="0"/>
                <a:cs typeface="Arial" panose="020B0604020202020204" pitchFamily="34" charset="0"/>
              </a:rPr>
              <a:t>. </a:t>
            </a:r>
            <a:r>
              <a:rPr lang="en-US" sz="1100" b="1" dirty="0" smtClean="0">
                <a:latin typeface="Arial" panose="020B0604020202020204" pitchFamily="34" charset="0"/>
                <a:cs typeface="Arial" panose="020B0604020202020204" pitchFamily="34" charset="0"/>
              </a:rPr>
              <a:t>Skill Matching (New Feature)</a:t>
            </a:r>
            <a:endParaRPr lang="en-US" sz="1100" b="1" dirty="0">
              <a:latin typeface="Arial" panose="020B0604020202020204" pitchFamily="34" charset="0"/>
              <a:cs typeface="Arial" panose="020B0604020202020204" pitchFamily="34" charset="0"/>
            </a:endParaRPr>
          </a:p>
          <a:p>
            <a:pPr>
              <a:lnSpc>
                <a:spcPct val="100000"/>
              </a:lnSpc>
            </a:pPr>
            <a:r>
              <a:rPr lang="en-US" sz="1100" dirty="0">
                <a:latin typeface="Arial" panose="020B0604020202020204" pitchFamily="34" charset="0"/>
                <a:cs typeface="Arial" panose="020B0604020202020204" pitchFamily="34" charset="0"/>
              </a:rPr>
              <a:t>AI compares resume content with the Job Description</a:t>
            </a:r>
            <a:r>
              <a:rPr lang="en-US" sz="1100" dirty="0" smtClean="0">
                <a:latin typeface="Arial" panose="020B0604020202020204" pitchFamily="34" charset="0"/>
                <a:cs typeface="Arial" panose="020B0604020202020204" pitchFamily="34" charset="0"/>
              </a:rPr>
              <a:t>.</a:t>
            </a:r>
          </a:p>
          <a:p>
            <a:pPr>
              <a:lnSpc>
                <a:spcPct val="100000"/>
              </a:lnSpc>
            </a:pPr>
            <a:r>
              <a:rPr lang="en-US" sz="1100" dirty="0" smtClean="0">
                <a:latin typeface="Arial" panose="020B0604020202020204" pitchFamily="34" charset="0"/>
                <a:cs typeface="Arial" panose="020B0604020202020204" pitchFamily="34" charset="0"/>
              </a:rPr>
              <a:t>Highlights </a:t>
            </a:r>
            <a:r>
              <a:rPr lang="en-US" sz="1100" dirty="0">
                <a:latin typeface="Arial" panose="020B0604020202020204" pitchFamily="34" charset="0"/>
                <a:cs typeface="Arial" panose="020B0604020202020204" pitchFamily="34" charset="0"/>
              </a:rPr>
              <a:t>missing skills and suggests improvements</a:t>
            </a:r>
            <a:r>
              <a:rPr lang="en-US" sz="1100" dirty="0" smtClean="0">
                <a:latin typeface="Arial" panose="020B0604020202020204" pitchFamily="34" charset="0"/>
                <a:cs typeface="Arial" panose="020B0604020202020204" pitchFamily="34" charset="0"/>
              </a:rPr>
              <a:t>.</a:t>
            </a:r>
          </a:p>
          <a:p>
            <a:pPr marL="0" indent="0">
              <a:lnSpc>
                <a:spcPct val="100000"/>
              </a:lnSpc>
              <a:buNone/>
            </a:pPr>
            <a:r>
              <a:rPr lang="en-US" sz="1100" b="1" dirty="0" smtClean="0">
                <a:latin typeface="Arial" panose="020B0604020202020204" pitchFamily="34" charset="0"/>
                <a:cs typeface="Arial" panose="020B0604020202020204" pitchFamily="34" charset="0"/>
              </a:rPr>
              <a:t>4</a:t>
            </a:r>
            <a:r>
              <a:rPr lang="en-US" sz="1100" b="1" dirty="0">
                <a:latin typeface="Arial" panose="020B0604020202020204" pitchFamily="34" charset="0"/>
                <a:cs typeface="Arial" panose="020B0604020202020204" pitchFamily="34" charset="0"/>
              </a:rPr>
              <a:t>. </a:t>
            </a:r>
            <a:r>
              <a:rPr lang="en-US" sz="1100" b="1" dirty="0" smtClean="0">
                <a:latin typeface="Arial" panose="020B0604020202020204" pitchFamily="34" charset="0"/>
                <a:cs typeface="Arial" panose="020B0604020202020204" pitchFamily="34" charset="0"/>
              </a:rPr>
              <a:t>Template Auto – Selection (New Feature)</a:t>
            </a:r>
            <a:endParaRPr lang="en-US" sz="1100" b="1" dirty="0">
              <a:latin typeface="Arial" panose="020B0604020202020204" pitchFamily="34" charset="0"/>
              <a:cs typeface="Arial" panose="020B0604020202020204" pitchFamily="34" charset="0"/>
            </a:endParaRPr>
          </a:p>
          <a:p>
            <a:pPr marL="0" indent="0">
              <a:buNone/>
            </a:pPr>
            <a:r>
              <a:rPr lang="en-US" sz="1100" dirty="0" smtClean="0"/>
              <a:t>System </a:t>
            </a:r>
            <a:r>
              <a:rPr lang="en-US" sz="1100" dirty="0"/>
              <a:t>selects a professional template based on profile type:</a:t>
            </a:r>
          </a:p>
          <a:p>
            <a:r>
              <a:rPr lang="en-US" sz="1100" dirty="0"/>
              <a:t>Student/Fresher</a:t>
            </a:r>
          </a:p>
          <a:p>
            <a:r>
              <a:rPr lang="en-US" sz="1100" dirty="0"/>
              <a:t>Entry-Level</a:t>
            </a:r>
          </a:p>
          <a:p>
            <a:r>
              <a:rPr lang="en-US" sz="1100" dirty="0"/>
              <a:t>Experienced</a:t>
            </a:r>
          </a:p>
          <a:p>
            <a:pPr marL="0" indent="0">
              <a:lnSpc>
                <a:spcPct val="100000"/>
              </a:lnSpc>
              <a:buNone/>
            </a:pPr>
            <a:r>
              <a:rPr lang="en-US" sz="1100" b="1" dirty="0" smtClean="0">
                <a:latin typeface="Arial" panose="020B0604020202020204" pitchFamily="34" charset="0"/>
                <a:cs typeface="Arial" panose="020B0604020202020204" pitchFamily="34" charset="0"/>
              </a:rPr>
              <a:t> </a:t>
            </a:r>
            <a:r>
              <a:rPr lang="en-US" sz="1100" b="1" dirty="0">
                <a:latin typeface="Arial" panose="020B0604020202020204" pitchFamily="34" charset="0"/>
                <a:cs typeface="Arial" panose="020B0604020202020204" pitchFamily="34" charset="0"/>
              </a:rPr>
              <a:t>5. </a:t>
            </a:r>
            <a:r>
              <a:rPr lang="en-US" sz="1100" b="1" dirty="0" smtClean="0">
                <a:latin typeface="Arial" panose="020B0604020202020204" pitchFamily="34" charset="0"/>
                <a:cs typeface="Arial" panose="020B0604020202020204" pitchFamily="34" charset="0"/>
              </a:rPr>
              <a:t>Deployment</a:t>
            </a:r>
            <a:endParaRPr lang="en-US" sz="1100" b="1" dirty="0">
              <a:latin typeface="Arial" panose="020B0604020202020204" pitchFamily="34" charset="0"/>
              <a:cs typeface="Arial" panose="020B0604020202020204" pitchFamily="34" charset="0"/>
            </a:endParaRPr>
          </a:p>
          <a:p>
            <a:pPr>
              <a:lnSpc>
                <a:spcPct val="100000"/>
              </a:lnSpc>
            </a:pPr>
            <a:r>
              <a:rPr lang="en-US" sz="1100" dirty="0" smtClean="0">
                <a:latin typeface="Arial" panose="020B0604020202020204" pitchFamily="34" charset="0"/>
                <a:cs typeface="Arial" panose="020B0604020202020204" pitchFamily="34" charset="0"/>
              </a:rPr>
              <a:t>Frontend </a:t>
            </a:r>
            <a:r>
              <a:rPr lang="en-US" sz="1100" dirty="0">
                <a:latin typeface="Arial" panose="020B0604020202020204" pitchFamily="34" charset="0"/>
                <a:cs typeface="Arial" panose="020B0604020202020204" pitchFamily="34" charset="0"/>
              </a:rPr>
              <a:t>built using </a:t>
            </a:r>
            <a:r>
              <a:rPr lang="en-US" sz="1100" dirty="0" err="1">
                <a:latin typeface="Arial" panose="020B0604020202020204" pitchFamily="34" charset="0"/>
                <a:cs typeface="Arial" panose="020B0604020202020204" pitchFamily="34" charset="0"/>
              </a:rPr>
              <a:t>Streamlit</a:t>
            </a:r>
            <a:r>
              <a:rPr lang="en-US" sz="1100" dirty="0" smtClean="0">
                <a:latin typeface="Arial" panose="020B0604020202020204" pitchFamily="34" charset="0"/>
                <a:cs typeface="Arial" panose="020B0604020202020204" pitchFamily="34" charset="0"/>
              </a:rPr>
              <a:t>.</a:t>
            </a:r>
          </a:p>
          <a:p>
            <a:pPr>
              <a:lnSpc>
                <a:spcPct val="100000"/>
              </a:lnSpc>
            </a:pPr>
            <a:r>
              <a:rPr lang="en-US" sz="1100" dirty="0" smtClean="0">
                <a:latin typeface="Arial" panose="020B0604020202020204" pitchFamily="34" charset="0"/>
                <a:cs typeface="Arial" panose="020B0604020202020204" pitchFamily="34" charset="0"/>
              </a:rPr>
              <a:t>Backend </a:t>
            </a:r>
            <a:r>
              <a:rPr lang="en-US" sz="1100" dirty="0">
                <a:latin typeface="Arial" panose="020B0604020202020204" pitchFamily="34" charset="0"/>
                <a:cs typeface="Arial" panose="020B0604020202020204" pitchFamily="34" charset="0"/>
              </a:rPr>
              <a:t>integrated with Google AI Studio / </a:t>
            </a:r>
            <a:r>
              <a:rPr lang="en-US" sz="1100" dirty="0" err="1">
                <a:latin typeface="Arial" panose="020B0604020202020204" pitchFamily="34" charset="0"/>
                <a:cs typeface="Arial" panose="020B0604020202020204" pitchFamily="34" charset="0"/>
              </a:rPr>
              <a:t>OpenAI</a:t>
            </a:r>
            <a:r>
              <a:rPr lang="en-US" sz="1100" dirty="0">
                <a:latin typeface="Arial" panose="020B0604020202020204" pitchFamily="34" charset="0"/>
                <a:cs typeface="Arial" panose="020B0604020202020204" pitchFamily="34" charset="0"/>
              </a:rPr>
              <a:t> API</a:t>
            </a:r>
            <a:r>
              <a:rPr lang="en-US" sz="1100" dirty="0" smtClean="0">
                <a:latin typeface="Arial" panose="020B0604020202020204" pitchFamily="34" charset="0"/>
                <a:cs typeface="Arial" panose="020B0604020202020204" pitchFamily="34" charset="0"/>
              </a:rPr>
              <a:t>.</a:t>
            </a:r>
          </a:p>
          <a:p>
            <a:pPr>
              <a:lnSpc>
                <a:spcPct val="100000"/>
              </a:lnSpc>
            </a:pPr>
            <a:r>
              <a:rPr lang="en-US" sz="1100" dirty="0" smtClean="0">
                <a:latin typeface="Arial" panose="020B0604020202020204" pitchFamily="34" charset="0"/>
                <a:cs typeface="Arial" panose="020B0604020202020204" pitchFamily="34" charset="0"/>
              </a:rPr>
              <a:t>Hosted </a:t>
            </a:r>
            <a:r>
              <a:rPr lang="en-US" sz="1100" dirty="0">
                <a:latin typeface="Arial" panose="020B0604020202020204" pitchFamily="34" charset="0"/>
                <a:cs typeface="Arial" panose="020B0604020202020204" pitchFamily="34" charset="0"/>
              </a:rPr>
              <a:t>on </a:t>
            </a:r>
            <a:r>
              <a:rPr lang="en-US" sz="1100" dirty="0" err="1">
                <a:latin typeface="Arial" panose="020B0604020202020204" pitchFamily="34" charset="0"/>
                <a:cs typeface="Arial" panose="020B0604020202020204" pitchFamily="34" charset="0"/>
              </a:rPr>
              <a:t>Streamlit</a:t>
            </a:r>
            <a:r>
              <a:rPr lang="en-US" sz="1100" dirty="0">
                <a:latin typeface="Arial" panose="020B0604020202020204" pitchFamily="34" charset="0"/>
                <a:cs typeface="Arial" panose="020B0604020202020204" pitchFamily="34" charset="0"/>
              </a:rPr>
              <a:t> Cloud or </a:t>
            </a:r>
            <a:r>
              <a:rPr lang="en-US" sz="1100" dirty="0" err="1">
                <a:latin typeface="Arial" panose="020B0604020202020204" pitchFamily="34" charset="0"/>
                <a:cs typeface="Arial" panose="020B0604020202020204" pitchFamily="34" charset="0"/>
              </a:rPr>
              <a:t>GitHub</a:t>
            </a:r>
            <a:r>
              <a:rPr lang="en-US" sz="1100" dirty="0">
                <a:latin typeface="Arial" panose="020B0604020202020204" pitchFamily="34" charset="0"/>
                <a:cs typeface="Arial" panose="020B0604020202020204" pitchFamily="34" charset="0"/>
              </a:rPr>
              <a:t> Pages.</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9455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F20F19-3232-FCD0-E48F-6210A7E8170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xmlns="" id="{3C230409-939A-60F3-342F-342F13F94BBC}"/>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p:cNvPicPr>
            <a:picLocks noGrp="1" noChangeAspect="1"/>
          </p:cNvPicPr>
          <p:nvPr>
            <p:ph idx="1"/>
          </p:nvPr>
        </p:nvPicPr>
        <p:blipFill>
          <a:blip r:embed="rId2"/>
          <a:stretch>
            <a:fillRect/>
          </a:stretch>
        </p:blipFill>
        <p:spPr>
          <a:xfrm>
            <a:off x="8238144" y="849752"/>
            <a:ext cx="3423331" cy="3161184"/>
          </a:xfrm>
          <a:prstGeom prst="rect">
            <a:avLst/>
          </a:prstGeom>
          <a:ln>
            <a:solidFill>
              <a:schemeClr val="accent1"/>
            </a:solidFill>
          </a:ln>
        </p:spPr>
      </p:pic>
      <p:pic>
        <p:nvPicPr>
          <p:cNvPr id="3" name="Picture 2"/>
          <p:cNvPicPr>
            <a:picLocks noChangeAspect="1"/>
          </p:cNvPicPr>
          <p:nvPr/>
        </p:nvPicPr>
        <p:blipFill rotWithShape="1">
          <a:blip r:embed="rId3"/>
          <a:srcRect l="19724" t="9351" r="21153" b="-990"/>
          <a:stretch/>
        </p:blipFill>
        <p:spPr>
          <a:xfrm>
            <a:off x="274404" y="1380048"/>
            <a:ext cx="3611634" cy="2630888"/>
          </a:xfrm>
          <a:prstGeom prst="rect">
            <a:avLst/>
          </a:prstGeom>
          <a:ln>
            <a:solidFill>
              <a:schemeClr val="accent1"/>
            </a:solidFill>
          </a:ln>
        </p:spPr>
      </p:pic>
      <p:pic>
        <p:nvPicPr>
          <p:cNvPr id="4" name="Picture 3"/>
          <p:cNvPicPr>
            <a:picLocks noChangeAspect="1"/>
          </p:cNvPicPr>
          <p:nvPr/>
        </p:nvPicPr>
        <p:blipFill>
          <a:blip r:embed="rId4"/>
          <a:stretch>
            <a:fillRect/>
          </a:stretch>
        </p:blipFill>
        <p:spPr>
          <a:xfrm>
            <a:off x="4192504" y="3299024"/>
            <a:ext cx="3806992" cy="2827456"/>
          </a:xfrm>
          <a:prstGeom prst="rect">
            <a:avLst/>
          </a:prstGeom>
          <a:solidFill>
            <a:schemeClr val="accent1">
              <a:lumMod val="60000"/>
              <a:lumOff val="40000"/>
            </a:schemeClr>
          </a:solidFill>
          <a:ln>
            <a:solidFill>
              <a:schemeClr val="accent1"/>
            </a:solidFill>
          </a:ln>
        </p:spPr>
      </p:pic>
    </p:spTree>
    <p:extLst>
      <p:ext uri="{BB962C8B-B14F-4D97-AF65-F5344CB8AC3E}">
        <p14:creationId xmlns:p14="http://schemas.microsoft.com/office/powerpoint/2010/main" val="280122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F20F19-3232-FCD0-E48F-6210A7E81701}"/>
            </a:ext>
          </a:extLst>
        </p:cNvPr>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69127" y="670936"/>
            <a:ext cx="5228291" cy="3447094"/>
          </a:xfrm>
          <a:prstGeom prst="rect">
            <a:avLst/>
          </a:prstGeom>
        </p:spPr>
      </p:pic>
      <p:pic>
        <p:nvPicPr>
          <p:cNvPr id="9" name="Picture 8"/>
          <p:cNvPicPr>
            <a:picLocks noChangeAspect="1"/>
          </p:cNvPicPr>
          <p:nvPr/>
        </p:nvPicPr>
        <p:blipFill>
          <a:blip r:embed="rId3"/>
          <a:stretch>
            <a:fillRect/>
          </a:stretch>
        </p:blipFill>
        <p:spPr>
          <a:xfrm>
            <a:off x="5344305" y="3174664"/>
            <a:ext cx="3195156" cy="3419242"/>
          </a:xfrm>
          <a:prstGeom prst="rect">
            <a:avLst/>
          </a:prstGeom>
          <a:ln>
            <a:solidFill>
              <a:schemeClr val="accent1"/>
            </a:solidFill>
          </a:ln>
        </p:spPr>
      </p:pic>
      <p:pic>
        <p:nvPicPr>
          <p:cNvPr id="10" name="Picture 9"/>
          <p:cNvPicPr>
            <a:picLocks noChangeAspect="1"/>
          </p:cNvPicPr>
          <p:nvPr/>
        </p:nvPicPr>
        <p:blipFill>
          <a:blip r:embed="rId4"/>
          <a:stretch>
            <a:fillRect/>
          </a:stretch>
        </p:blipFill>
        <p:spPr>
          <a:xfrm>
            <a:off x="8539461" y="670936"/>
            <a:ext cx="3383711" cy="3494783"/>
          </a:xfrm>
          <a:prstGeom prst="rect">
            <a:avLst/>
          </a:prstGeom>
          <a:ln>
            <a:solidFill>
              <a:schemeClr val="accent1"/>
            </a:solidFill>
          </a:ln>
        </p:spPr>
      </p:pic>
    </p:spTree>
    <p:extLst>
      <p:ext uri="{BB962C8B-B14F-4D97-AF65-F5344CB8AC3E}">
        <p14:creationId xmlns:p14="http://schemas.microsoft.com/office/powerpoint/2010/main" val="424615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a:bodyPr>
          <a:lstStyle/>
          <a:p>
            <a:r>
              <a:rPr lang="en-US" dirty="0"/>
              <a:t>GITHUB AND DEPLOYMNET LINK</a:t>
            </a:r>
          </a:p>
        </p:txBody>
      </p:sp>
      <p:sp>
        <p:nvSpPr>
          <p:cNvPr id="2" name="Content Placeholder 1">
            <a:extLst>
              <a:ext uri="{FF2B5EF4-FFF2-40B4-BE49-F238E27FC236}">
                <a16:creationId xmlns:a16="http://schemas.microsoft.com/office/drawing/2014/main" xmlns="" id="{D3304455-6802-6CA9-8475-2F6DD1B8D409}"/>
              </a:ext>
            </a:extLst>
          </p:cNvPr>
          <p:cNvSpPr>
            <a:spLocks noGrp="1"/>
          </p:cNvSpPr>
          <p:nvPr>
            <p:ph idx="1"/>
          </p:nvPr>
        </p:nvSpPr>
        <p:spPr/>
        <p:txBody>
          <a:bodyPr>
            <a:normAutofit/>
          </a:bodyPr>
          <a:lstStyle/>
          <a:p>
            <a:pPr marL="305435" indent="-305435"/>
            <a:r>
              <a:rPr lang="en-US" sz="2800" b="1" dirty="0"/>
              <a:t>Attach your </a:t>
            </a:r>
            <a:r>
              <a:rPr lang="en-US" sz="2800" b="1" dirty="0" err="1"/>
              <a:t>Github</a:t>
            </a:r>
            <a:r>
              <a:rPr lang="en-US" sz="2800" b="1" dirty="0"/>
              <a:t> Link : coding files GITHUB  </a:t>
            </a:r>
            <a:r>
              <a:rPr lang="en-US" sz="2800" b="1" dirty="0">
                <a:hlinkClick r:id="rId2"/>
              </a:rPr>
              <a:t>https://</a:t>
            </a:r>
            <a:r>
              <a:rPr lang="en-US" sz="2800" b="1" dirty="0" smtClean="0">
                <a:hlinkClick r:id="rId2"/>
              </a:rPr>
              <a:t>github.com/Afrah-Riyas-1154/AI-RESUME-BUILDER.git</a:t>
            </a:r>
            <a:r>
              <a:rPr lang="en-US" sz="2800" b="1" dirty="0" smtClean="0"/>
              <a:t>  </a:t>
            </a:r>
            <a:endParaRPr lang="en-US" sz="2800" b="1" dirty="0"/>
          </a:p>
          <a:p>
            <a:pPr marL="305435" indent="-305435"/>
            <a:r>
              <a:rPr lang="en-US" sz="2800" b="1" dirty="0">
                <a:ea typeface="+mn-lt"/>
                <a:cs typeface="+mn-lt"/>
              </a:rPr>
              <a:t>Deployment link:  GITHUB/SOME OTHER PLATFORM</a:t>
            </a:r>
          </a:p>
          <a:p>
            <a:pPr marL="305435" indent="-305435"/>
            <a:r>
              <a:rPr lang="en-IN" b="1" u="sng" dirty="0">
                <a:hlinkClick r:id="rId3"/>
              </a:rPr>
              <a:t>https://</a:t>
            </a:r>
            <a:r>
              <a:rPr lang="en-IN" b="1" u="sng" dirty="0" smtClean="0">
                <a:hlinkClick r:id="rId3"/>
              </a:rPr>
              <a:t>production.creao.ai/share?app=1OjyoLT8&amp;utm_source=share&amp;utm_medium=link</a:t>
            </a:r>
            <a:r>
              <a:rPr lang="en-IN" b="1" u="sng" dirty="0" smtClean="0"/>
              <a:t> </a:t>
            </a:r>
            <a:endParaRPr lang="en-US" sz="2800" b="1" dirty="0"/>
          </a:p>
        </p:txBody>
      </p:sp>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xmlns="" id="{E40DB77D-9106-AD05-1664-25E5E9ABD26C}"/>
              </a:ext>
            </a:extLst>
          </p:cNvPr>
          <p:cNvSpPr>
            <a:spLocks noGrp="1"/>
          </p:cNvSpPr>
          <p:nvPr>
            <p:ph idx="1"/>
          </p:nvPr>
        </p:nvSpPr>
        <p:spPr/>
        <p:txBody>
          <a:bodyPr/>
          <a:lstStyle/>
          <a:p>
            <a:pPr algn="just">
              <a:lnSpc>
                <a:spcPct val="150000"/>
              </a:lnSpc>
            </a:pPr>
            <a:r>
              <a:rPr lang="en-US" dirty="0">
                <a:latin typeface="Arial" panose="020B0604020202020204" pitchFamily="34" charset="0"/>
                <a:cs typeface="Arial" panose="020B0604020202020204" pitchFamily="34" charset="0"/>
              </a:rPr>
              <a:t>The AI Resume Builder automates resume creation by generating high-quality, professionally formatted content. With features like skill-matching and smart template selection, the system helps users produce stronger, industry-aligned resumes in minutes. It significantly reduces human effort and ensures better job-readiness.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3315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scope(Optional)</a:t>
            </a:r>
          </a:p>
        </p:txBody>
      </p:sp>
      <p:sp>
        <p:nvSpPr>
          <p:cNvPr id="3" name="Rectangle 1">
            <a:extLst>
              <a:ext uri="{FF2B5EF4-FFF2-40B4-BE49-F238E27FC236}">
                <a16:creationId xmlns:a16="http://schemas.microsoft.com/office/drawing/2014/main" xmlns="" id="{838CB7AC-92BC-5C92-8977-C45076B2B1AD}"/>
              </a:ext>
            </a:extLst>
          </p:cNvPr>
          <p:cNvSpPr>
            <a:spLocks noChangeArrowheads="1"/>
          </p:cNvSpPr>
          <p:nvPr/>
        </p:nvSpPr>
        <p:spPr bwMode="auto">
          <a:xfrm>
            <a:off x="778933" y="2234513"/>
            <a:ext cx="1101367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FontTx/>
              <a:buChar char="•"/>
            </a:pPr>
            <a:r>
              <a:rPr lang="en-US" altLang="en-US" sz="2400" b="1" dirty="0">
                <a:latin typeface="Arial" panose="020B0604020202020204" pitchFamily="34" charset="0"/>
              </a:rPr>
              <a:t>Add LinkedIn profile analysis for personalized suggestions</a:t>
            </a:r>
            <a:r>
              <a:rPr lang="en-US" altLang="en-US" sz="2400" b="1" dirty="0" smtClean="0">
                <a:latin typeface="Arial" panose="020B0604020202020204" pitchFamily="34" charset="0"/>
              </a:rPr>
              <a:t>.</a:t>
            </a:r>
          </a:p>
          <a:p>
            <a:pPr lvl="0" eaLnBrk="0" fontAlgn="base" hangingPunct="0">
              <a:lnSpc>
                <a:spcPct val="150000"/>
              </a:lnSpc>
              <a:spcBef>
                <a:spcPct val="0"/>
              </a:spcBef>
              <a:spcAft>
                <a:spcPct val="0"/>
              </a:spcAft>
              <a:buFontTx/>
              <a:buChar char="•"/>
            </a:pPr>
            <a:r>
              <a:rPr lang="en-US" altLang="en-US" sz="2400" b="1" dirty="0" smtClean="0">
                <a:latin typeface="Arial" panose="020B0604020202020204" pitchFamily="34" charset="0"/>
              </a:rPr>
              <a:t>Generate </a:t>
            </a:r>
            <a:r>
              <a:rPr lang="en-US" altLang="en-US" sz="2400" b="1" dirty="0">
                <a:latin typeface="Arial" panose="020B0604020202020204" pitchFamily="34" charset="0"/>
              </a:rPr>
              <a:t>cover letters automatically</a:t>
            </a:r>
            <a:r>
              <a:rPr lang="en-US" altLang="en-US" sz="2400" b="1" dirty="0" smtClean="0">
                <a:latin typeface="Arial" panose="020B0604020202020204" pitchFamily="34" charset="0"/>
              </a:rPr>
              <a:t>.</a:t>
            </a:r>
          </a:p>
          <a:p>
            <a:pPr lvl="0" eaLnBrk="0" fontAlgn="base" hangingPunct="0">
              <a:lnSpc>
                <a:spcPct val="150000"/>
              </a:lnSpc>
              <a:spcBef>
                <a:spcPct val="0"/>
              </a:spcBef>
              <a:spcAft>
                <a:spcPct val="0"/>
              </a:spcAft>
              <a:buFontTx/>
              <a:buChar char="•"/>
            </a:pPr>
            <a:r>
              <a:rPr lang="en-US" altLang="en-US" sz="2400" b="1" dirty="0" smtClean="0">
                <a:latin typeface="Arial" panose="020B0604020202020204" pitchFamily="34" charset="0"/>
              </a:rPr>
              <a:t>Provide </a:t>
            </a:r>
            <a:r>
              <a:rPr lang="en-US" altLang="en-US" sz="2400" b="1" dirty="0">
                <a:latin typeface="Arial" panose="020B0604020202020204" pitchFamily="34" charset="0"/>
              </a:rPr>
              <a:t>multiple export formats (PDF, DOCX</a:t>
            </a:r>
            <a:r>
              <a:rPr lang="en-US" altLang="en-US" sz="2400" b="1" dirty="0" smtClean="0">
                <a:latin typeface="Arial" panose="020B0604020202020204" pitchFamily="34" charset="0"/>
              </a:rPr>
              <a:t>).</a:t>
            </a:r>
          </a:p>
          <a:p>
            <a:pPr lvl="0" eaLnBrk="0" fontAlgn="base" hangingPunct="0">
              <a:lnSpc>
                <a:spcPct val="150000"/>
              </a:lnSpc>
              <a:spcBef>
                <a:spcPct val="0"/>
              </a:spcBef>
              <a:spcAft>
                <a:spcPct val="0"/>
              </a:spcAft>
              <a:buFontTx/>
              <a:buChar char="•"/>
            </a:pPr>
            <a:r>
              <a:rPr lang="en-US" altLang="en-US" sz="2400" b="1" dirty="0" smtClean="0">
                <a:latin typeface="Arial" panose="020B0604020202020204" pitchFamily="34" charset="0"/>
              </a:rPr>
              <a:t>Add </a:t>
            </a:r>
            <a:r>
              <a:rPr lang="en-US" altLang="en-US" sz="2400" b="1" dirty="0">
                <a:latin typeface="Arial" panose="020B0604020202020204" pitchFamily="34" charset="0"/>
              </a:rPr>
              <a:t>multilingual resume generation</a:t>
            </a:r>
            <a:r>
              <a:rPr lang="en-US" altLang="en-US" sz="2400" b="1" dirty="0" smtClean="0">
                <a:latin typeface="Arial" panose="020B0604020202020204" pitchFamily="34" charset="0"/>
              </a:rPr>
              <a:t>.</a:t>
            </a:r>
          </a:p>
          <a:p>
            <a:pPr lvl="0" eaLnBrk="0" fontAlgn="base" hangingPunct="0">
              <a:lnSpc>
                <a:spcPct val="150000"/>
              </a:lnSpc>
              <a:spcBef>
                <a:spcPct val="0"/>
              </a:spcBef>
              <a:spcAft>
                <a:spcPct val="0"/>
              </a:spcAft>
              <a:buFontTx/>
              <a:buChar char="•"/>
            </a:pPr>
            <a:r>
              <a:rPr lang="en-US" altLang="en-US" sz="2400" b="1" dirty="0" smtClean="0">
                <a:latin typeface="Arial" panose="020B0604020202020204" pitchFamily="34" charset="0"/>
              </a:rPr>
              <a:t>Job-role–based </a:t>
            </a:r>
            <a:r>
              <a:rPr lang="en-US" altLang="en-US" sz="2400" b="1" dirty="0">
                <a:latin typeface="Arial" panose="020B0604020202020204" pitchFamily="34" charset="0"/>
              </a:rPr>
              <a:t>resume rewriting (Software Engineer, Data Analyst, etc.).</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88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xmlns="" id="{357C38BC-22B3-37B2-E0C3-812020A76077}"/>
              </a:ext>
            </a:extLst>
          </p:cNvPr>
          <p:cNvSpPr>
            <a:spLocks noGrp="1"/>
          </p:cNvSpPr>
          <p:nvPr>
            <p:ph idx="1"/>
          </p:nvPr>
        </p:nvSpPr>
        <p:spPr/>
        <p:txBody>
          <a:bodyPr>
            <a:normAutofit fontScale="70000" lnSpcReduction="20000"/>
          </a:bodyPr>
          <a:lstStyle/>
          <a:p>
            <a:r>
              <a:rPr lang="en-IN" sz="2800" b="1" dirty="0" err="1"/>
              <a:t>OpenAI</a:t>
            </a:r>
            <a:r>
              <a:rPr lang="en-IN" sz="2800" b="1" dirty="0"/>
              <a:t> API Documentation</a:t>
            </a:r>
            <a:r>
              <a:rPr lang="en-IN" sz="2800" dirty="0"/>
              <a:t> – Guidelines and examples for integrating GPT-based text generation models into Python applications.</a:t>
            </a:r>
          </a:p>
          <a:p>
            <a:r>
              <a:rPr lang="en-IN" sz="2800" b="1" dirty="0"/>
              <a:t>Google AI Studio Documentation</a:t>
            </a:r>
            <a:r>
              <a:rPr lang="en-IN" sz="2800" dirty="0"/>
              <a:t> – Reference material for prompt design and cloud-based AI model usage.</a:t>
            </a:r>
          </a:p>
          <a:p>
            <a:r>
              <a:rPr lang="en-IN" sz="2800" b="1" dirty="0" err="1"/>
              <a:t>Streamlit</a:t>
            </a:r>
            <a:r>
              <a:rPr lang="en-IN" sz="2800" b="1" dirty="0"/>
              <a:t> Official Docs</a:t>
            </a:r>
            <a:r>
              <a:rPr lang="en-IN" sz="2800" dirty="0"/>
              <a:t> – Used for building the resume builder frontend interface and deployment steps.</a:t>
            </a:r>
          </a:p>
          <a:p>
            <a:r>
              <a:rPr lang="en-IN" sz="2800" b="1" dirty="0"/>
              <a:t>Hugging Face NLP Resources</a:t>
            </a:r>
            <a:r>
              <a:rPr lang="en-IN" sz="2800" dirty="0"/>
              <a:t> – General guidance on text generation, summarization, and keyword extraction.</a:t>
            </a:r>
          </a:p>
          <a:p>
            <a:r>
              <a:rPr lang="en-IN" sz="2800" b="1" dirty="0"/>
              <a:t>Resume Writing Standards (</a:t>
            </a:r>
            <a:r>
              <a:rPr lang="en-IN" sz="2800" b="1" dirty="0" err="1"/>
              <a:t>Naukri</a:t>
            </a:r>
            <a:r>
              <a:rPr lang="en-IN" sz="2800" b="1" dirty="0"/>
              <a:t>, Indeed, LinkedIn)</a:t>
            </a:r>
            <a:r>
              <a:rPr lang="en-IN" sz="2800" dirty="0"/>
              <a:t> – Used to understand modern resume structure, ATS rules, skill section formatting, and professional bullet point writing patterns.</a:t>
            </a:r>
          </a:p>
          <a:p>
            <a:r>
              <a:rPr lang="en-IN" sz="2800" b="1" dirty="0"/>
              <a:t>IEEE &amp; ACM Articles on AI Content Generation</a:t>
            </a:r>
            <a:r>
              <a:rPr lang="en-IN" sz="2800" dirty="0"/>
              <a:t> – Background research on reliability, ethical usage, and text-generation best practices.</a:t>
            </a:r>
          </a:p>
          <a:p>
            <a:r>
              <a:rPr lang="en-IN" sz="2800" b="1" dirty="0"/>
              <a:t>W3C HTML/CSS Guidelines</a:t>
            </a:r>
            <a:r>
              <a:rPr lang="en-IN" sz="2800" dirty="0"/>
              <a:t> – For creating standardized and clean resume templates.</a:t>
            </a:r>
          </a:p>
        </p:txBody>
      </p:sp>
    </p:spTree>
    <p:extLst>
      <p:ext uri="{BB962C8B-B14F-4D97-AF65-F5344CB8AC3E}">
        <p14:creationId xmlns:p14="http://schemas.microsoft.com/office/powerpoint/2010/main" val="728950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9162bd5b-4ed9-4da3-b376-05204580ba3f"/>
    <ds:schemaRef ds:uri="http://schemas.microsoft.com/office/2006/metadata/properties"/>
    <ds:schemaRef ds:uri="http://purl.org/dc/elements/1.1/"/>
    <ds:schemaRef ds:uri="http://schemas.microsoft.com/office/2006/documentManagement/types"/>
    <ds:schemaRef ds:uri="http://purl.org/dc/terms/"/>
    <ds:schemaRef ds:uri="http://schemas.openxmlformats.org/package/2006/metadata/core-properties"/>
    <ds:schemaRef ds:uri="http://schemas.microsoft.com/office/infopath/2007/PartnerControls"/>
    <ds:schemaRef ds:uri="http://purl.org/dc/dcmitype/"/>
    <ds:schemaRef ds:uri="http://www.w3.org/XML/1998/namespace"/>
    <ds:schemaRef ds:uri="c0fa2617-96bd-425d-8578-e93563fe37c5"/>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1758</TotalTime>
  <Words>536</Words>
  <Application>Microsoft Office PowerPoint</Application>
  <PresentationFormat>Widescreen</PresentationFormat>
  <Paragraphs>68</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AI RESUME BUILDER</vt:lpstr>
      <vt:lpstr>OUTLINE</vt:lpstr>
      <vt:lpstr>Problem Statement</vt:lpstr>
      <vt:lpstr>System  Approach</vt:lpstr>
      <vt:lpstr>Algorithm &amp; Deployment</vt:lpstr>
      <vt:lpstr>Result</vt:lpstr>
      <vt:lpstr>PowerPoint Presentation</vt:lpstr>
      <vt:lpstr>GITHUB AND DEPLOYMNET LINK</vt:lpstr>
      <vt:lpstr>Conclusion</vt:lpstr>
      <vt:lpstr>PowerPoint Presentation</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Microsoft account</cp:lastModifiedBy>
  <cp:revision>63</cp:revision>
  <dcterms:created xsi:type="dcterms:W3CDTF">2021-05-26T16:50:10Z</dcterms:created>
  <dcterms:modified xsi:type="dcterms:W3CDTF">2025-11-22T17:21:23Z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